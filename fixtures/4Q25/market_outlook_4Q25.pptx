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Market Outlook — Fourth Quarter 2025</a:t>
            </a:r>
          </a:p>
          <a:p>
            <a:pPr>
              <a:defRPr sz="2000">
                <a:solidFill>
                  <a:srgbClr val="5A6472"/>
                </a:solidFill>
              </a:defRPr>
            </a:pPr>
            <a:r>
              <a:t>Vectera Advisors — House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Key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Core real-estate values are stabilizing after the 2023–2024 repricing; U.S. private funds have turned positive over the past year (see exhibits).</a:t>
            </a:r>
          </a:p>
          <a:p>
            <a:pPr>
              <a:spcAft>
                <a:spcPts val="800"/>
              </a:spcAft>
              <a:defRPr sz="1700"/>
            </a:pPr>
            <a:r>
              <a:t>•  We favor industrial / logistics and multifamily, remain underweight office, and are selective in retail.</a:t>
            </a:r>
          </a:p>
          <a:p>
            <a:pPr>
              <a:spcAft>
                <a:spcPts val="800"/>
              </a:spcAft>
              <a:defRPr sz="1700"/>
            </a:pPr>
            <a:r>
              <a:t>•  Leverage discipline and patient deployment into the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Macro &amp; Capital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Global macro is stabilizing; core values are recovering following the significant 2023–2024 repricing.</a:t>
            </a:r>
          </a:p>
          <a:p>
            <a:pPr>
              <a:spcAft>
                <a:spcPts val="800"/>
              </a:spcAft>
              <a:defRPr sz="1700"/>
            </a:pPr>
            <a:r>
              <a:t>•  U.S. private real estate fund returns have moved back into positive territory over the trailing year (exhibit).</a:t>
            </a:r>
          </a:p>
          <a:p>
            <a:pPr>
              <a:spcAft>
                <a:spcPts val="800"/>
              </a:spcAft>
              <a:defRPr sz="1700"/>
            </a:pPr>
            <a:r>
              <a:t>•  Cap rates have largely stabilized while the spread over Treasuries has widened, restoring the real-estate risk premium (exhibit).</a:t>
            </a:r>
          </a:p>
          <a:p>
            <a:pPr>
              <a:spcAft>
                <a:spcPts val="800"/>
              </a:spcAft>
              <a:defRPr sz="1700"/>
            </a:pPr>
            <a:r>
              <a:t>•  Transaction activity is rebounding from cyclical lows as rate volatility eases and bid-ask spreads narrow.</a:t>
            </a:r>
          </a:p>
          <a:p>
            <a:pPr>
              <a:spcAft>
                <a:spcPts val="800"/>
              </a:spcAft>
              <a:defRPr sz="1700"/>
            </a:pPr>
            <a:r>
              <a:t>•  We maintain leverage discipline and prefer moderate loan-to-value as financing normalizes.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Return Backdrop — U.S. Private Real Estate</a:t>
            </a:r>
          </a:p>
        </p:txBody>
      </p:sp>
      <p:pic>
        <p:nvPicPr>
          <p:cNvPr id="3" name="Picture 2" descr="c1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60" y="1371600"/>
            <a:ext cx="7946774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Trailing 3-year returns still carry the drawdown, but the latest quarter and one-year figures have turned positive.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Capital Markets — Cap Rates and Rates</a:t>
            </a:r>
          </a:p>
        </p:txBody>
      </p:sp>
      <p:pic>
        <p:nvPicPr>
          <p:cNvPr id="3" name="Picture 2" descr="c2_cap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3" y="1371600"/>
            <a:ext cx="8376329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Cap rates have held broadly stable as Treasury yields settled; the spread has re-widened versus the 2024 trough.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Sector Outlook — Forecast NOI Growth</a:t>
            </a:r>
          </a:p>
        </p:txBody>
      </p:sp>
      <p:pic>
        <p:nvPicPr>
          <p:cNvPr id="3" name="Picture 2" descr="c3_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3" y="1371600"/>
            <a:ext cx="8376329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5A6472"/>
                </a:solidFill>
              </a:defRPr>
            </a:pPr>
            <a:r>
              <a:t>Residential and industrial lead forecast income growth; office and retail lag across the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Industrial &amp; Logistics — Overweight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Our top overweight: fundamentals remain tight and rent growth is normalizing from double-digit peaks.</a:t>
            </a:r>
          </a:p>
          <a:p>
            <a:pPr>
              <a:spcAft>
                <a:spcPts val="800"/>
              </a:spcAft>
              <a:defRPr sz="1500"/>
            </a:pPr>
            <a:r>
              <a:t>•  Vacancy sits well below its long-run average; new supply is moderating after a record delivery wave.</a:t>
            </a:r>
          </a:p>
          <a:p>
            <a:pPr>
              <a:spcAft>
                <a:spcPts val="800"/>
              </a:spcAft>
              <a:defRPr sz="1500"/>
            </a:pPr>
            <a:r>
              <a:t>•  Focus on infill locations and outdoor / industrial storage.</a:t>
            </a:r>
          </a:p>
        </p:txBody>
      </p:sp>
      <p:pic>
        <p:nvPicPr>
          <p:cNvPr id="4" name="Picture 3" descr="c4_indus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400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Residential / Multifamily — Favored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A widening own-versus-rent affordability gap supports durable rental demand (exhibit).</a:t>
            </a:r>
          </a:p>
          <a:p>
            <a:pPr>
              <a:spcAft>
                <a:spcPts val="800"/>
              </a:spcAft>
              <a:defRPr sz="1500"/>
            </a:pPr>
            <a:r>
              <a:t>•  Record new deliveries are peaking and set to taper, easing rent pressure.</a:t>
            </a:r>
          </a:p>
          <a:p>
            <a:pPr>
              <a:spcAft>
                <a:spcPts val="800"/>
              </a:spcAft>
              <a:defRPr sz="1500"/>
            </a:pPr>
            <a:r>
              <a:t>•  A key area of interest for new capital deployment.</a:t>
            </a:r>
          </a:p>
        </p:txBody>
      </p:sp>
      <p:pic>
        <p:nvPicPr>
          <p:cNvPr id="4" name="Picture 3" descr="c5_own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400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Office — Underweight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Transaction cap rates have repriced sharply higher — well above appraisal marks (exhibit).</a:t>
            </a:r>
          </a:p>
          <a:p>
            <a:pPr>
              <a:spcAft>
                <a:spcPts val="800"/>
              </a:spcAft>
              <a:defRPr sz="1500"/>
            </a:pPr>
            <a:r>
              <a:t>•  A pronounced bifurcation persists; only best-in-class, well-located assets are favored.</a:t>
            </a:r>
          </a:p>
          <a:p>
            <a:pPr>
              <a:spcAft>
                <a:spcPts val="800"/>
              </a:spcAft>
              <a:defRPr sz="1500"/>
            </a:pPr>
            <a:r>
              <a:t>•  Leasing is improving off a low base, but the recovery is uneven.</a:t>
            </a:r>
          </a:p>
        </p:txBody>
      </p:sp>
      <p:pic>
        <p:nvPicPr>
          <p:cNvPr id="4" name="Picture 3" descr="c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226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Retail — Selective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 Years of minimal new supply against steady population growth have tightened availability, especially in the Sun Belt (exhibit).</a:t>
            </a:r>
          </a:p>
          <a:p>
            <a:pPr>
              <a:spcAft>
                <a:spcPts val="800"/>
              </a:spcAft>
              <a:defRPr sz="1500"/>
            </a:pPr>
            <a:r>
              <a:t>•  Grocery-anchored and necessity-based formats are favored for resilient cash flows.</a:t>
            </a:r>
          </a:p>
          <a:p>
            <a:pPr>
              <a:spcAft>
                <a:spcPts val="800"/>
              </a:spcAft>
              <a:defRPr sz="1500"/>
            </a:pPr>
            <a:r>
              <a:t>•  Discretionary and enclosed-mall formats remain out of favor.</a:t>
            </a:r>
          </a:p>
        </p:txBody>
      </p:sp>
      <p:pic>
        <p:nvPicPr>
          <p:cNvPr id="4" name="Picture 3" descr="c7_r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852160" cy="3226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Private Real Estate Debt — Opportunistic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Reduced bank lending has widened spreads, creating selective opportunities in senior and mezzanine credit.</a:t>
            </a:r>
          </a:p>
          <a:p>
            <a:pPr>
              <a:spcAft>
                <a:spcPts val="800"/>
              </a:spcAft>
              <a:defRPr sz="1700"/>
            </a:pPr>
            <a:r>
              <a:t>•  Relevant for dedicated debt mandates; not a focus of core / value-add equity portfolios.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Risks We Are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A resurgence in rate volatility could re-widen bid-ask spreads and stall the transaction recovery.</a:t>
            </a:r>
          </a:p>
          <a:p>
            <a:pPr>
              <a:spcAft>
                <a:spcPts val="800"/>
              </a:spcAft>
              <a:defRPr sz="1700"/>
            </a:pPr>
            <a:r>
              <a:t>•  Refinancing of 2020–2021 vintage debt at higher rates remains a sector-wide overhang, most acute in office.</a:t>
            </a:r>
          </a:p>
          <a:p>
            <a:pPr>
              <a:spcAft>
                <a:spcPts val="800"/>
              </a:spcAft>
              <a:defRPr sz="1700"/>
            </a:pPr>
            <a:r>
              <a:t>•  Slower-than-expected supply absorption in select multifamily submarkets.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Positioning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 Maintain leverage discipline; prefer moderate loan-to-value.</a:t>
            </a:r>
          </a:p>
          <a:p>
            <a:pPr>
              <a:spcAft>
                <a:spcPts val="800"/>
              </a:spcAft>
              <a:defRPr sz="1700"/>
            </a:pPr>
            <a:r>
              <a:t>•  Tilt toward industrial / logistics and multifamily; underweight office; be selective in retail.</a:t>
            </a:r>
          </a:p>
          <a:p>
            <a:pPr>
              <a:spcAft>
                <a:spcPts val="800"/>
              </a:spcAft>
              <a:defRPr sz="1700"/>
            </a:pPr>
            <a:r>
              <a:t>•  Deploy patiently into the recovery as pricing stabilizes.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Outlook — Q4 2025</dc:title>
  <dc:subject/>
  <dc:creator>Vectera Advisors</dc:creator>
  <cp:keywords/>
  <dc:description>generated using python-pptx</dc:description>
  <cp:lastModifiedBy>Vectera Advisors</cp:lastModifiedBy>
  <cp:revision>1</cp:revision>
  <dcterms:created xsi:type="dcterms:W3CDTF">2013-01-27T09:14:16Z</dcterms:created>
  <dcterms:modified xsi:type="dcterms:W3CDTF">2013-01-27T09:15:58Z</dcterms:modified>
  <cp:category/>
</cp:coreProperties>
</file>